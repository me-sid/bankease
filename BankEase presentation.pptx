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JetBrains Mono"/>
      <p:regular r:id="rId14"/>
    </p:embeddedFont>
    <p:embeddedFont>
      <p:font typeface="Plus Jakarta Sans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38200" y="4340423"/>
            <a:ext cx="2428875" cy="619125"/>
          </a:xfrm>
          <a:prstGeom prst="roundRect">
            <a:avLst>
              <a:gd name="adj" fmla="val 15384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57575" y="4340423"/>
            <a:ext cx="2428875" cy="619125"/>
          </a:xfrm>
          <a:prstGeom prst="roundRect">
            <a:avLst>
              <a:gd name="adj" fmla="val 15384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76950" y="4340423"/>
            <a:ext cx="2428875" cy="619125"/>
          </a:xfrm>
          <a:prstGeom prst="roundRect">
            <a:avLst>
              <a:gd name="adj" fmla="val 15384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696325" y="4340423"/>
            <a:ext cx="2428875" cy="619125"/>
          </a:xfrm>
          <a:prstGeom prst="roundRect">
            <a:avLst>
              <a:gd name="adj" fmla="val 15384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98451"/>
            <a:ext cx="238125" cy="209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8200" y="2260401"/>
            <a:ext cx="9901237" cy="525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lang="en-IN" sz="3450" b="1" i="0" u="none" dirty="0">
                <a:solidFill>
                  <a:srgbClr val="F8FAFC"/>
                </a:solidFill>
                <a:latin typeface="Plus Jakarta Sans"/>
              </a:rPr>
              <a:t>Bank Ease – System Architecture</a:t>
            </a:r>
            <a:endParaRPr sz="3450" b="1" i="0" u="none" dirty="0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8200" y="3483173"/>
            <a:ext cx="7334250" cy="494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IN" sz="1350" dirty="0">
                <a:solidFill>
                  <a:srgbClr val="94A3B8"/>
                </a:solidFill>
                <a:latin typeface="Plus Jakarta Sans"/>
              </a:rPr>
              <a:t>Bank system infrastructure with persistent data layers, inbuilt security guardrails, multi-layer transactions and efficient error handling.</a:t>
            </a:r>
            <a:endParaRPr sz="1350" b="0" i="0" u="none" dirty="0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90625" y="1917501"/>
            <a:ext cx="3143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BANKEASE CORE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175" y="4483298"/>
            <a:ext cx="2583656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8BDF8"/>
                </a:solidFill>
                <a:latin typeface="Plus Jakarta Sans"/>
              </a:rPr>
              <a:t>DATA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75" y="4645223"/>
            <a:ext cx="2583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1F5F9"/>
                </a:solidFill>
                <a:latin typeface="Plus Jakarta Sans"/>
              </a:rPr>
              <a:t>JSON Persistence &amp; 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8550" y="4483298"/>
            <a:ext cx="2583656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8BDF8"/>
                </a:solidFill>
                <a:latin typeface="Plus Jakarta Sans"/>
              </a:rPr>
              <a:t>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8550" y="4645223"/>
            <a:ext cx="2583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1F5F9"/>
                </a:solidFill>
                <a:latin typeface="Plus Jakarta Sans"/>
              </a:rPr>
              <a:t>PIN Auth &amp; Input Guards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7925" y="4483298"/>
            <a:ext cx="2583656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8BDF8"/>
                </a:solidFill>
                <a:latin typeface="Plus Jakarta Sans"/>
              </a:rPr>
              <a:t>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7925" y="4645223"/>
            <a:ext cx="2583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1F5F9"/>
                </a:solidFill>
                <a:latin typeface="Plus Jakarta Sans"/>
              </a:rPr>
              <a:t>Transfers &amp; Audit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77300" y="4483298"/>
            <a:ext cx="2583656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8BDF8"/>
                </a:solidFill>
                <a:latin typeface="Plus Jakarta Sans"/>
              </a:rP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77300" y="4645223"/>
            <a:ext cx="2583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1F5F9"/>
                </a:solidFill>
                <a:latin typeface="Plus Jakarta Sans"/>
              </a:rPr>
              <a:t>Closure &amp; Error Handling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38200" y="2305942"/>
            <a:ext cx="5582542" cy="3122414"/>
          </a:xfrm>
          <a:prstGeom prst="roundRect">
            <a:avLst>
              <a:gd name="adj" fmla="val 427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763642" y="2328862"/>
            <a:ext cx="4590157" cy="1057275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763642" y="3538537"/>
            <a:ext cx="4590157" cy="1057275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63642" y="4748212"/>
            <a:ext cx="4590157" cy="657225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63642" y="4748212"/>
            <a:ext cx="38100" cy="6572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8200" y="495300"/>
            <a:ext cx="11353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PERSISTENCE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723900"/>
            <a:ext cx="113538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JSON-Based Data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2534542"/>
            <a:ext cx="6311428" cy="204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sz="975" b="0" i="0" u="none">
                <a:solidFill>
                  <a:srgbClr val="94A3B8"/>
                </a:solidFill>
                <a:latin typeface="JetBrains Mono"/>
              </a:rPr>
              <a:t>// accounts.json persistent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2814935"/>
            <a:ext cx="6311428" cy="204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sz="975" b="0" i="0" u="none">
                <a:solidFill>
                  <a:srgbClr val="38BDF8"/>
                </a:solidFill>
                <a:latin typeface="JetBrains Mono"/>
              </a:rPr>
              <a:t>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3057227"/>
            <a:ext cx="6311428" cy="204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sz="975" b="0" i="0" u="none">
                <a:solidFill>
                  <a:srgbClr val="F1F5F9"/>
                </a:solidFill>
                <a:latin typeface="JetBrains Mono"/>
              </a:rPr>
              <a:t>  "1001": {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3299519"/>
            <a:ext cx="6311428" cy="204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sz="975" b="0" i="0" u="none">
                <a:solidFill>
                  <a:srgbClr val="F1F5F9"/>
                </a:solidFill>
                <a:latin typeface="JetBrains Mono"/>
              </a:rPr>
              <a:t>    "name": "Alex Mercer",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3541811"/>
            <a:ext cx="6311428" cy="204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sz="975" b="0" i="0" u="none">
                <a:solidFill>
                  <a:srgbClr val="F1F5F9"/>
                </a:solidFill>
                <a:latin typeface="JetBrains Mono"/>
              </a:rPr>
              <a:t>    "pin": "4821",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" y="3784103"/>
            <a:ext cx="6311428" cy="204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sz="975" b="0" i="0" u="none">
                <a:solidFill>
                  <a:srgbClr val="F1F5F9"/>
                </a:solidFill>
                <a:latin typeface="JetBrains Mono"/>
              </a:rPr>
              <a:t>    "balance": 18500.50,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" y="4026396"/>
            <a:ext cx="6311428" cy="204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sz="975" b="0" i="0" u="none">
                <a:solidFill>
                  <a:srgbClr val="38BDF8"/>
                </a:solidFill>
                <a:latin typeface="JetBrains Mono"/>
              </a:rPr>
              <a:t>    "transactions": [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" y="4268688"/>
            <a:ext cx="6311428" cy="204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sz="975" b="0" i="0" u="none">
                <a:solidFill>
                  <a:srgbClr val="94A3B8"/>
                </a:solidFill>
                <a:latin typeface="JetBrains Mono"/>
              </a:rPr>
              <a:t>      {"type": "deposit", "amt": 5000, "ts": "2026-10-27"}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" y="4510980"/>
            <a:ext cx="6311428" cy="204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sz="975" b="0" i="0" u="none">
                <a:solidFill>
                  <a:srgbClr val="38BDF8"/>
                </a:solidFill>
                <a:latin typeface="JetBrains Mono"/>
              </a:rPr>
              <a:t>    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" y="4753272"/>
            <a:ext cx="6311428" cy="204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sz="975" b="0" i="0" u="none">
                <a:solidFill>
                  <a:srgbClr val="F1F5F9"/>
                </a:solidFill>
                <a:latin typeface="JetBrains Mono"/>
              </a:rPr>
              <a:t>  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" y="4995564"/>
            <a:ext cx="6311428" cy="204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sz="975" b="0" i="0" u="none">
                <a:solidFill>
                  <a:srgbClr val="38BDF8"/>
                </a:solidFill>
                <a:latin typeface="JetBrains Mono"/>
              </a:rP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1767" y="2528887"/>
            <a:ext cx="519023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Flat-File Ledger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1767" y="2786062"/>
            <a:ext cx="420915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Stores customer profiles, account balances, PINs, and transaction histories in a centralized file.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1767" y="3738562"/>
            <a:ext cx="519023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Session Independence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1767" y="3995737"/>
            <a:ext cx="420915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Account data persists reliably across program restarts and system power cycles.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2242" y="4900612"/>
            <a:ext cx="519975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KEY BENEFIT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2242" y="5081587"/>
            <a:ext cx="519975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Plus Jakarta Sans"/>
              </a:rPr>
              <a:t>Permanent data storage without requiring a database server.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4295775"/>
            <a:ext cx="10515600" cy="704850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38200" y="2733675"/>
            <a:ext cx="3378249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406949" y="2733675"/>
            <a:ext cx="3378249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975699" y="2733675"/>
            <a:ext cx="3378249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38200" y="4295775"/>
            <a:ext cx="38100" cy="7048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7275" y="2990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626024" y="2990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194774" y="2990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8200" y="495300"/>
            <a:ext cx="11353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INITIALIZATION PROTOCOL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723900"/>
            <a:ext cx="113538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Automatic File Creation &amp; Data Loading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4467225"/>
            <a:ext cx="110871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KEY BENEFIT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4648200"/>
            <a:ext cx="110871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369A1"/>
                </a:solidFill>
                <a:latin typeface="Plus Jakarta Sans"/>
              </a:rPr>
              <a:t>Convenient startup and continuity between sessions.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75" y="3371850"/>
            <a:ext cx="30353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Tests whether accounts.json exists in the working directory during cold start.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024" y="3371850"/>
            <a:ext cx="30353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Automatically creates an empty JSON root structure if the file is missing.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4774" y="3371850"/>
            <a:ext cx="30353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Loads existing accounts into application memory for immediate customer 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908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9225" y="3024187"/>
            <a:ext cx="15751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Presence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3149" y="29908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7974" y="3024187"/>
            <a:ext cx="166270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Auto Provisioning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1899" y="29908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56724" y="3024187"/>
            <a:ext cx="153769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State Hydration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38200" y="2809875"/>
            <a:ext cx="5400675" cy="2114550"/>
          </a:xfrm>
          <a:prstGeom prst="roundRect">
            <a:avLst>
              <a:gd name="adj" fmla="val 630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81775" y="2852737"/>
            <a:ext cx="4772025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81775" y="4176712"/>
            <a:ext cx="4772025" cy="704850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1775" y="4176712"/>
            <a:ext cx="38100" cy="7048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124200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676650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25" y="4229100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350" y="3228975"/>
            <a:ext cx="1333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3781425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4333875"/>
            <a:ext cx="171450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8200" y="495300"/>
            <a:ext cx="11353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ACCESS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723900"/>
            <a:ext cx="213039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PIN-Based Login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9900" y="3090862"/>
            <a:ext cx="53721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Session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9900" y="3367087"/>
            <a:ext cx="43910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Successful authentication generates an isolated account session token, preventing cross-user data leakage.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8475" y="4348162"/>
            <a:ext cx="53435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KEY BENEFIT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8475" y="4529137"/>
            <a:ext cx="53435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369A1"/>
                </a:solidFill>
                <a:latin typeface="Plus Jakarta Sans"/>
              </a:rPr>
              <a:t>Adds a basic layer of access control to customer accounts.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6875" y="3128962"/>
            <a:ext cx="34004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Identifier Lookup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3328987"/>
            <a:ext cx="3238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Validates account number exists in ledger.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3681412"/>
            <a:ext cx="433804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4-Digit PIN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3881437"/>
            <a:ext cx="41314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Matches credentials against secured account record.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4233862"/>
            <a:ext cx="55506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3-Attempt Cap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4433887"/>
            <a:ext cx="5286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Terminates login session after three consecutive incorrect attempts.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38200" y="3614737"/>
            <a:ext cx="10515600" cy="695325"/>
          </a:xfrm>
          <a:prstGeom prst="roundRect">
            <a:avLst>
              <a:gd name="adj" fmla="val 1369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38200" y="4500562"/>
            <a:ext cx="10515600" cy="657225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8200" y="2538412"/>
            <a:ext cx="2514600" cy="885825"/>
          </a:xfrm>
          <a:prstGeom prst="roundRect">
            <a:avLst>
              <a:gd name="adj" fmla="val 107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505200" y="2538412"/>
            <a:ext cx="2514600" cy="885825"/>
          </a:xfrm>
          <a:prstGeom prst="roundRect">
            <a:avLst>
              <a:gd name="adj" fmla="val 107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72200" y="2538412"/>
            <a:ext cx="2514600" cy="885825"/>
          </a:xfrm>
          <a:prstGeom prst="roundRect">
            <a:avLst>
              <a:gd name="adj" fmla="val 107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39200" y="2538412"/>
            <a:ext cx="2514600" cy="885825"/>
          </a:xfrm>
          <a:prstGeom prst="roundRect">
            <a:avLst>
              <a:gd name="adj" fmla="val 107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38200" y="4500562"/>
            <a:ext cx="38100" cy="6572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200" y="495300"/>
            <a:ext cx="11353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DATA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723900"/>
            <a:ext cx="113538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Comprehensive Input Validation Guardrails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3776662"/>
            <a:ext cx="111537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Overdraft Prevention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3995737"/>
            <a:ext cx="111537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Verifies sufficient account funds before executing withdrawals or transfers, blocking negative balances.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4652962"/>
            <a:ext cx="111252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KEY BENEFIT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4833937"/>
            <a:ext cx="11125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Plus Jakarta Sans"/>
              </a:rPr>
              <a:t>Reduces input errors and prevents invalid banking operations.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2719387"/>
            <a:ext cx="287535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Account Numbers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2938462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Checks numeric digits and prevents duplicate IDs.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7125" y="2719387"/>
            <a:ext cx="287535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Phone Numbers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7125" y="2938462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Enforces standard 10-digit numeric constraint.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4125" y="2719387"/>
            <a:ext cx="287535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PIN &amp; Age Bounds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4125" y="2938462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Ensures 4-digit PINs and valid customer age ranges.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1125" y="2719387"/>
            <a:ext cx="287535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Amount Floors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1125" y="2938462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Rejects zero, negative, or malformed transactions.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38200" y="2921496"/>
            <a:ext cx="5773935" cy="1891307"/>
          </a:xfrm>
          <a:prstGeom prst="roundRect">
            <a:avLst>
              <a:gd name="adj" fmla="val 705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955035" y="2328862"/>
            <a:ext cx="4398764" cy="1057275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55035" y="3538537"/>
            <a:ext cx="4398764" cy="1057275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955035" y="4748212"/>
            <a:ext cx="4398764" cy="657225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55035" y="4748212"/>
            <a:ext cx="38100" cy="6572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8200" y="495300"/>
            <a:ext cx="11353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AUDITABILITY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723900"/>
            <a:ext cx="113538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Transaction History with Timestamps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" y="3131046"/>
            <a:ext cx="6598294" cy="21044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sz="975" b="0" i="0" u="none">
                <a:solidFill>
                  <a:srgbClr val="94A3B8"/>
                </a:solidFill>
                <a:latin typeface="JetBrains Mono"/>
              </a:rPr>
              <a:t>// Account Activity Audit Trail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50" y="3398639"/>
            <a:ext cx="6598294" cy="21044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sz="975" b="0" i="0" u="none">
                <a:solidFill>
                  <a:srgbClr val="38BDF8"/>
                </a:solidFill>
                <a:latin typeface="JetBrains Mono"/>
              </a:rPr>
              <a:t>[2026-10-27 10:14:22] ACCOUNT_CREATED · Initial: £1,000.00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5850" y="3647182"/>
            <a:ext cx="6598294" cy="21044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sz="975" b="0" i="0" u="none">
                <a:solidFill>
                  <a:srgbClr val="38BDF8"/>
                </a:solidFill>
                <a:latin typeface="JetBrains Mono"/>
              </a:rPr>
              <a:t>[2026-10-27 10:30:05] DEPOSIT · Amount: +£2,500.00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" y="3895725"/>
            <a:ext cx="6598294" cy="21044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sz="975" b="0" i="0" u="none">
                <a:solidFill>
                  <a:srgbClr val="38BDF8"/>
                </a:solidFill>
                <a:latin typeface="JetBrains Mono"/>
              </a:rPr>
              <a:t>[2026-10-27 11:15:40] WITHDRAWAL · Amount: -£400.00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5850" y="4144267"/>
            <a:ext cx="6598294" cy="21044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sz="975" b="0" i="0" u="none">
                <a:solidFill>
                  <a:srgbClr val="38BDF8"/>
                </a:solidFill>
                <a:latin typeface="JetBrains Mono"/>
              </a:rPr>
              <a:t>[2026-10-27 11:45:12] TRANSFER_SENT · To Acc 1004: -£650.00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5850" y="4392810"/>
            <a:ext cx="6598294" cy="21044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sz="975" b="0" i="0" u="none">
                <a:solidFill>
                  <a:srgbClr val="38BDF8"/>
                </a:solidFill>
                <a:latin typeface="JetBrains Mono"/>
              </a:rPr>
              <a:t>[2026-10-27 12:02:18] PIN_CHANGED · Security verification passed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5060" y="2528887"/>
            <a:ext cx="503693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Complete Event Journal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060" y="2786062"/>
            <a:ext cx="4093964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Maintains an immutable record of deposits, withdrawals, transfers, account creation, and PIN changes.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5060" y="3738562"/>
            <a:ext cx="503693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Timestamp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5060" y="3995737"/>
            <a:ext cx="4093964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Every transaction is tagged with exact date and time for chronological reconciliation.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83635" y="4900612"/>
            <a:ext cx="497458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KEY BENEFIT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83635" y="5081587"/>
            <a:ext cx="497458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Plus Jakarta Sans"/>
              </a:rPr>
              <a:t>Makes account activity easier to track and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4191000"/>
            <a:ext cx="10515600" cy="704850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38200" y="2838450"/>
            <a:ext cx="3390900" cy="1123950"/>
          </a:xfrm>
          <a:prstGeom prst="roundRect">
            <a:avLst>
              <a:gd name="adj" fmla="val 101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400550" y="2838450"/>
            <a:ext cx="3390900" cy="1123950"/>
          </a:xfrm>
          <a:prstGeom prst="roundRect">
            <a:avLst>
              <a:gd name="adj" fmla="val 101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962900" y="2838450"/>
            <a:ext cx="3390900" cy="1123950"/>
          </a:xfrm>
          <a:prstGeom prst="roundRect">
            <a:avLst>
              <a:gd name="adj" fmla="val 101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38200" y="4191000"/>
            <a:ext cx="38100" cy="7048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8200" y="495300"/>
            <a:ext cx="11353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FUND MOVEMENT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723900"/>
            <a:ext cx="113538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Inter-Account Money Transfer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4362450"/>
            <a:ext cx="110871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KEY BENEFIT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4543425"/>
            <a:ext cx="110871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369A1"/>
                </a:solidFill>
                <a:latin typeface="Plus Jakarta Sans"/>
              </a:rPr>
              <a:t>Enables direct transfers within the application while maintaining consistent account balances during normal operation.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3076575"/>
            <a:ext cx="392549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1. Recipient Lookup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3352800"/>
            <a:ext cx="30861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Verifies recipient account exists and prevents circular transfers to the same account.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0575" y="3076575"/>
            <a:ext cx="392549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2. Balance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0575" y="3352800"/>
            <a:ext cx="30861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Ensures sender has sufficient balance before initiating debit logic.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2925" y="3076575"/>
            <a:ext cx="392549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3. Dual-Ledger 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2925" y="3352800"/>
            <a:ext cx="30861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Atomically updates balances and appends timestamped records to both accounts.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38200" y="2833687"/>
            <a:ext cx="5591621" cy="2066925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772721" y="2862262"/>
            <a:ext cx="4581078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772721" y="4167187"/>
            <a:ext cx="4581078" cy="704850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14425" y="3109912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14425" y="3614737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14425" y="4119562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772721" y="4167187"/>
            <a:ext cx="38100" cy="7048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200" y="495300"/>
            <a:ext cx="11353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CREDENTIAL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723900"/>
            <a:ext cx="113538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Secure PIN Modification Protocol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3109912"/>
            <a:ext cx="5334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3614737"/>
            <a:ext cx="5334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4119562"/>
            <a:ext cx="5334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846" y="3100387"/>
            <a:ext cx="518115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Self-Service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846" y="3376612"/>
            <a:ext cx="420007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Empowers account owners to rotate credentials independently without administrative intervention.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9421" y="4338637"/>
            <a:ext cx="510722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KEY BENEFIT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9421" y="4519612"/>
            <a:ext cx="510722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369A1"/>
                </a:solidFill>
                <a:latin typeface="Plus Jakarta Sans"/>
              </a:rPr>
              <a:t>Gives users control over their account access credentials.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6375" y="3109912"/>
            <a:ext cx="502562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Identity 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76375" y="3309937"/>
            <a:ext cx="47863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Requires input and successful verification of the current active PIN.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76375" y="3614737"/>
            <a:ext cx="51506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Format &amp; Novelty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76375" y="3814762"/>
            <a:ext cx="49053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Enforces exactly 4 numeric digits and rejects reusing the current PIN.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76375" y="4119562"/>
            <a:ext cx="613885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Dual Confirmation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76375" y="4319587"/>
            <a:ext cx="4772471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Requires double entry and exact confirmation match before committing to JSON.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38200" y="2928937"/>
            <a:ext cx="5362575" cy="1876425"/>
          </a:xfrm>
          <a:prstGeom prst="roundRect">
            <a:avLst>
              <a:gd name="adj" fmla="val 710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14425" y="4119562"/>
            <a:ext cx="4810125" cy="409575"/>
          </a:xfrm>
          <a:prstGeom prst="roundRect">
            <a:avLst>
              <a:gd name="adj" fmla="val 18604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43675" y="2890837"/>
            <a:ext cx="4810125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43675" y="4138612"/>
            <a:ext cx="4810125" cy="704850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43675" y="4138612"/>
            <a:ext cx="38100" cy="7048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3214687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8200" y="495300"/>
            <a:ext cx="11353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LIFECYCLE TERMINATION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723900"/>
            <a:ext cx="113538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Guarded Account Closure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3567112"/>
            <a:ext cx="49053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7F1D1D"/>
                </a:solidFill>
                <a:latin typeface="Plus Jakarta Sans"/>
              </a:rPr>
              <a:t>An account cannot be closed while balance &gt; 0. All remaining capital must be withdrawn or transferred out first.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6825" y="4233862"/>
            <a:ext cx="46005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B91C1C"/>
                </a:solidFill>
                <a:latin typeface="JetBrains Mono"/>
              </a:rPr>
              <a:t>if account["balance"] != 0: abort()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9225" y="3205162"/>
            <a:ext cx="2350293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991B1B"/>
                </a:solidFill>
                <a:latin typeface="Plus Jakarta Sans"/>
              </a:rPr>
              <a:t>Zero-Balance Invariant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0" y="3109912"/>
            <a:ext cx="5429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Explicit Intent Confirmation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0" y="3367087"/>
            <a:ext cx="44672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Requires explicit text confirmation and PIN re-verification to prevent accidental deletion.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4310062"/>
            <a:ext cx="53816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KEY BENEFIT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0375" y="4491037"/>
            <a:ext cx="53816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369A1"/>
                </a:solidFill>
                <a:latin typeface="Plus Jakarta Sans"/>
              </a:rPr>
              <a:t>Provides a controlled account closure process.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4276725"/>
            <a:ext cx="10515600" cy="704850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38200" y="2752725"/>
            <a:ext cx="5143500" cy="1295400"/>
          </a:xfrm>
          <a:prstGeom prst="roundRect">
            <a:avLst>
              <a:gd name="adj" fmla="val 102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752725"/>
            <a:ext cx="5143500" cy="1295400"/>
          </a:xfrm>
          <a:prstGeom prst="roundRect">
            <a:avLst>
              <a:gd name="adj" fmla="val 102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38200" y="4276725"/>
            <a:ext cx="38100" cy="7048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3038475"/>
            <a:ext cx="238125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3038475"/>
            <a:ext cx="209550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8200" y="495300"/>
            <a:ext cx="11353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PRODUCT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723900"/>
            <a:ext cx="113538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Savings &amp; Current Account Tiers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4448175"/>
            <a:ext cx="110871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KEY BENEFIT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4629150"/>
            <a:ext cx="110871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369A1"/>
                </a:solidFill>
                <a:latin typeface="Plus Jakarta Sans"/>
              </a:rPr>
              <a:t>Makes account creation more representative of a real banking system.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425" y="3371850"/>
            <a:ext cx="4686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Configured for individual retail customers prioritizing wealth preservation and day-to-day personal deposits.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3371850"/>
            <a:ext cx="4686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Tailored for commercial operations and liquid mercantile transactions requiring continuous fund movement.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6850" y="3028950"/>
            <a:ext cx="193774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Savings 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3028950"/>
            <a:ext cx="19252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Current Account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5657850"/>
            <a:ext cx="10515600" cy="704850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38200" y="2795587"/>
            <a:ext cx="5105400" cy="1247775"/>
          </a:xfrm>
          <a:prstGeom prst="roundRect">
            <a:avLst>
              <a:gd name="adj" fmla="val 1068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795587"/>
            <a:ext cx="5105400" cy="1247775"/>
          </a:xfrm>
          <a:prstGeom prst="roundRect">
            <a:avLst>
              <a:gd name="adj" fmla="val 1068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38200" y="5657850"/>
            <a:ext cx="38100" cy="7048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" y="3067050"/>
            <a:ext cx="19050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75" y="3067050"/>
            <a:ext cx="19050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8200" y="495300"/>
            <a:ext cx="11353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RESILIENCE &amp; 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723900"/>
            <a:ext cx="113538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Error Handling &amp; Menu Segmentation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5829300"/>
            <a:ext cx="110871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KEY BENEFIT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6010275"/>
            <a:ext cx="110871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369A1"/>
                </a:solidFill>
                <a:latin typeface="Plus Jakarta Sans"/>
              </a:rPr>
              <a:t>Improves usability, organization, and handling of unexpected data problems.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3386137"/>
            <a:ext cx="4686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Traps JSONDecodeError, prints clear error notifications, and terminates execution safely rather than overwriting valid state.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5575" y="3386137"/>
            <a:ext cx="4686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Separates the public gateway (Create, Login, Exit) from the private dashboard (Transfer, Details, PIN Change, Logout).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1125" y="3052762"/>
            <a:ext cx="222527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Corrupted JSON 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1325" y="3052762"/>
            <a:ext cx="252531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Two-Tier Menu Navigation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14812" y="4357687"/>
            <a:ext cx="2305050" cy="381000"/>
          </a:xfrm>
          <a:prstGeom prst="roundRect">
            <a:avLst>
              <a:gd name="adj" fmla="val 20000"/>
            </a:avLst>
          </a:prstGeom>
          <a:solidFill>
            <a:srgbClr val="1D2537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672262" y="4357687"/>
            <a:ext cx="1304925" cy="381000"/>
          </a:xfrm>
          <a:prstGeom prst="roundRect">
            <a:avLst>
              <a:gd name="adj" fmla="val 20000"/>
            </a:avLst>
          </a:prstGeom>
          <a:solidFill>
            <a:srgbClr val="1D2537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119312"/>
            <a:ext cx="533400" cy="533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837" y="2262187"/>
            <a:ext cx="314325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57882" y="2881312"/>
            <a:ext cx="9876234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150" b="1" i="0" u="none">
                <a:solidFill>
                  <a:srgbClr val="F8FAFC"/>
                </a:solidFill>
                <a:latin typeface="Plus Jakarta Sans"/>
              </a:rPr>
              <a:t>BankEase System Overview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5062" y="3538537"/>
            <a:ext cx="73818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A robust, file-persisted banking simulator combining defensive input validation, transaction journaling, and clean UX.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7181" y="4452937"/>
            <a:ext cx="250031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050" b="1" dirty="0">
                <a:solidFill>
                  <a:srgbClr val="E2E8F0"/>
                </a:solidFill>
                <a:latin typeface="Plus Jakarta Sans"/>
              </a:rPr>
              <a:t>Github.com/me-</a:t>
            </a:r>
            <a:r>
              <a:rPr lang="en-IN" sz="1050" b="1" dirty="0" err="1">
                <a:solidFill>
                  <a:srgbClr val="E2E8F0"/>
                </a:solidFill>
                <a:latin typeface="Plus Jakarta Sans"/>
              </a:rPr>
              <a:t>sid</a:t>
            </a:r>
            <a:r>
              <a:rPr lang="en-IN" sz="1050" b="1" dirty="0">
                <a:solidFill>
                  <a:srgbClr val="E2E8F0"/>
                </a:solidFill>
                <a:latin typeface="Plus Jakarta Sans"/>
              </a:rPr>
              <a:t>/</a:t>
            </a:r>
            <a:r>
              <a:rPr lang="en-IN" sz="1050" b="1" dirty="0" err="1">
                <a:solidFill>
                  <a:srgbClr val="E2E8F0"/>
                </a:solidFill>
                <a:latin typeface="Plus Jakarta Sans"/>
              </a:rPr>
              <a:t>BankEase</a:t>
            </a:r>
            <a:endParaRPr sz="1050" b="1" i="0" u="none" dirty="0">
              <a:solidFill>
                <a:srgbClr val="E2E8F0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99646" y="4452937"/>
            <a:ext cx="125015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E2E8F0"/>
                </a:solidFill>
                <a:latin typeface="Plus Jakarta Sans"/>
              </a:rPr>
              <a:t>Open for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837</Words>
  <Application>Microsoft Office PowerPoint</Application>
  <PresentationFormat>Widescreen</PresentationFormat>
  <Paragraphs>137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Plus Jakarta Sans</vt:lpstr>
      <vt:lpstr>JetBrains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Siddhartha Parashar</dc:creator>
  <cp:keywords/>
  <dc:description>generated using python-pptx</dc:description>
  <cp:lastModifiedBy>Siddhartha Parashar</cp:lastModifiedBy>
  <cp:revision>2</cp:revision>
  <dcterms:created xsi:type="dcterms:W3CDTF">2013-01-27T09:14:16Z</dcterms:created>
  <dcterms:modified xsi:type="dcterms:W3CDTF">2026-10-27T08:52:28Z</dcterms:modified>
  <cp:category/>
</cp:coreProperties>
</file>